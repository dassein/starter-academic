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895625"/>
          </a:xfrm>
          <a:prstGeom prst="roundRect">
            <a:avLst>
              <a:gd name="adj" fmla="val 3651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068966"/>
            <a:ext cx="16349682" cy="5706408"/>
          </a:xfrm>
          <a:prstGeom prst="roundRect">
            <a:avLst>
              <a:gd name="adj" fmla="val 1454"/>
            </a:avLst>
          </a:prstGeom>
          <a:solidFill>
            <a:srgbClr val="EF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068966"/>
            <a:ext cx="16349682" cy="25002986"/>
          </a:xfrm>
          <a:prstGeom prst="roundRect">
            <a:avLst>
              <a:gd name="adj" fmla="val 507"/>
            </a:avLst>
          </a:prstGeom>
          <a:solidFill>
            <a:srgbClr val="EF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068966"/>
            <a:ext cx="16349821" cy="10653832"/>
          </a:xfrm>
          <a:prstGeom prst="roundRect">
            <a:avLst>
              <a:gd name="adj" fmla="val 778"/>
            </a:avLst>
          </a:prstGeom>
          <a:solidFill>
            <a:srgbClr val="EF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107221"/>
            <a:ext cx="16349682" cy="18964731"/>
          </a:xfrm>
          <a:prstGeom prst="roundRect">
            <a:avLst>
              <a:gd name="adj" fmla="val 507"/>
            </a:avLst>
          </a:prstGeom>
          <a:solidFill>
            <a:srgbClr val="EF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054645"/>
            <a:ext cx="16349821" cy="4747260"/>
          </a:xfrm>
          <a:prstGeom prst="roundRect">
            <a:avLst>
              <a:gd name="adj" fmla="val 1747"/>
            </a:avLst>
          </a:prstGeom>
          <a:solidFill>
            <a:srgbClr val="EF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1133752"/>
            <a:ext cx="16349821" cy="8938200"/>
          </a:xfrm>
          <a:prstGeom prst="roundRect">
            <a:avLst>
              <a:gd name="adj" fmla="val 928"/>
            </a:avLst>
          </a:prstGeom>
          <a:solidFill>
            <a:srgbClr val="EDF1F7"/>
          </a:solidFill>
          <a:ln w="8890">
            <a:solidFill>
              <a:srgbClr val="CD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1133752"/>
            <a:ext cx="53340" cy="893820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91" y="6559430"/>
            <a:ext cx="15573474" cy="8030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9991" y="6559430"/>
            <a:ext cx="124460" cy="803017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816393" y="11590893"/>
            <a:ext cx="15573474" cy="3047881"/>
          </a:xfrm>
          <a:prstGeom prst="roundRect">
            <a:avLst>
              <a:gd name="adj" fmla="val 7392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92795" y="11878845"/>
            <a:ext cx="15573613" cy="1647984"/>
          </a:xfrm>
          <a:prstGeom prst="roundRect">
            <a:avLst>
              <a:gd name="adj" fmla="val 12659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92795" y="13526829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92795" y="13526829"/>
            <a:ext cx="15573613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2795" y="17545109"/>
            <a:ext cx="15573613" cy="2963009"/>
          </a:xfrm>
          <a:prstGeom prst="roundRect">
            <a:avLst>
              <a:gd name="adj" fmla="val 2400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637245" y="22624216"/>
            <a:ext cx="15529163" cy="1668820"/>
          </a:xfrm>
          <a:prstGeom prst="roundRect">
            <a:avLst>
              <a:gd name="adj" fmla="val 125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urdue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0287" y="2604079"/>
            <a:ext cx="3140531" cy="5600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39991" y="15987553"/>
            <a:ext cx="7266463" cy="2853274"/>
          </a:xfrm>
          <a:prstGeom prst="roundRect">
            <a:avLst>
              <a:gd name="adj" fmla="val 731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7001" y="15987553"/>
            <a:ext cx="7266464" cy="2853274"/>
          </a:xfrm>
          <a:prstGeom prst="roundRect">
            <a:avLst>
              <a:gd name="adj" fmla="val 7311"/>
            </a:avLst>
          </a:prstGeom>
          <a:solidFill>
            <a:srgbClr val="F1F3F8"/>
          </a:solidFill>
          <a:ln w="889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54429" y="17767359"/>
            <a:ext cx="3366115" cy="25660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554429" y="17767359"/>
            <a:ext cx="11557" cy="2566015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816393" y="663055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2795" y="8211026"/>
            <a:ext cx="15573613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816393" y="8561070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16393" y="10491589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none">
            <a:noAutofit/>
          </a:bodyPr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9991" y="22337236"/>
            <a:ext cx="15573474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2795" y="6559430"/>
            <a:ext cx="4191774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92795" y="7257018"/>
            <a:ext cx="419177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784569" y="6559430"/>
            <a:ext cx="4493617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784569" y="7257018"/>
            <a:ext cx="4493617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78186" y="6559430"/>
            <a:ext cx="6888222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78186" y="7257018"/>
            <a:ext cx="688822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92795" y="7265908"/>
            <a:ext cx="41917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92795" y="8202136"/>
            <a:ext cx="419177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784569" y="7265908"/>
            <a:ext cx="449361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784569" y="8202136"/>
            <a:ext cx="4493617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78186" y="7265908"/>
            <a:ext cx="68882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78186" y="8202136"/>
            <a:ext cx="688822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92795" y="8211026"/>
            <a:ext cx="41917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592795" y="9147254"/>
            <a:ext cx="419177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84569" y="8211026"/>
            <a:ext cx="449361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784569" y="9147254"/>
            <a:ext cx="4493617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278186" y="8211026"/>
            <a:ext cx="68882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78186" y="9147254"/>
            <a:ext cx="688822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9156144"/>
            <a:ext cx="41917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592795" y="10092372"/>
            <a:ext cx="419177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784569" y="9156144"/>
            <a:ext cx="449361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784569" y="10092372"/>
            <a:ext cx="4493617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78186" y="9156144"/>
            <a:ext cx="68882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278186" y="10092372"/>
            <a:ext cx="688822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9991" y="19967217"/>
            <a:ext cx="3611701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9991" y="20664805"/>
            <a:ext cx="361170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51692" y="19967217"/>
            <a:ext cx="3880763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51692" y="20664805"/>
            <a:ext cx="388076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32455" y="19967217"/>
            <a:ext cx="8081010" cy="706478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32455" y="20664805"/>
            <a:ext cx="808101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9991" y="20673695"/>
            <a:ext cx="361170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9991" y="22328346"/>
            <a:ext cx="361170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51692" y="20673695"/>
            <a:ext cx="3880763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51692" y="22328346"/>
            <a:ext cx="388076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32455" y="20673695"/>
            <a:ext cx="8081010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32455" y="22328346"/>
            <a:ext cx="808101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9991" y="22337236"/>
            <a:ext cx="361170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991" y="23273464"/>
            <a:ext cx="361170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51692" y="22337236"/>
            <a:ext cx="38807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51692" y="23273464"/>
            <a:ext cx="388076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32455" y="22337236"/>
            <a:ext cx="808101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32455" y="23273464"/>
            <a:ext cx="808101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39991" y="23282354"/>
            <a:ext cx="361170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9991" y="24937005"/>
            <a:ext cx="3611701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51692" y="23282354"/>
            <a:ext cx="3880763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51692" y="24937005"/>
            <a:ext cx="3880763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532455" y="23282354"/>
            <a:ext cx="8081010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32455" y="24937005"/>
            <a:ext cx="8081010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15581" y="1007487"/>
            <a:ext cx="45245099" cy="12953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1D3A87"/>
                </a:solidFill>
                <a:latin typeface="Calibri"/>
              </a:rPr>
              <a:t>Unified High-Probability Analysis of Stochastic Variance-Reduced Estimation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5581" y="2363350"/>
            <a:ext cx="45245099" cy="14884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Calibri"/>
              </a:rPr>
              <a:t>Zhankun Luo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1‡</a:t>
            </a:r>
            <a:r>
              <a:rPr sz="3920" b="0">
                <a:solidFill>
                  <a:srgbClr val="1B2331"/>
                </a:solidFill>
                <a:latin typeface="Calibri"/>
              </a:rPr>
              <a:t>, Antesh Upadhyay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1‡</a:t>
            </a:r>
            <a:r>
              <a:rPr sz="3920" b="0">
                <a:solidFill>
                  <a:srgbClr val="1B2331"/>
                </a:solidFill>
                <a:latin typeface="Calibri"/>
              </a:rPr>
              <a:t>, M. Berk Sahin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920" b="0">
                <a:solidFill>
                  <a:srgbClr val="1B2331"/>
                </a:solidFill>
                <a:latin typeface="Calibri"/>
              </a:rPr>
              <a:t>, Sang Bin Moon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920" b="0">
                <a:solidFill>
                  <a:srgbClr val="1B2331"/>
                </a:solidFill>
                <a:latin typeface="Calibri"/>
              </a:rPr>
              <a:t>,</a:t>
            </a:r>
          </a:p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Calibri"/>
              </a:rPr>
              <a:t>Anuran Makur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920" b="0">
                <a:solidFill>
                  <a:srgbClr val="1B2331"/>
                </a:solidFill>
                <a:latin typeface="Calibri"/>
              </a:rPr>
              <a:t>, Abolfazl Hashemi</a:t>
            </a:r>
            <a:r>
              <a:rPr sz="2430" b="0" baseline="30000">
                <a:solidFill>
                  <a:srgbClr val="1B2331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15581" y="3710741"/>
            <a:ext cx="45245099" cy="5533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1620" b="0" spc="52" baseline="30000">
                <a:solidFill>
                  <a:srgbClr val="55617A"/>
                </a:solidFill>
                <a:latin typeface="Calibri"/>
              </a:rPr>
              <a:t>1</a:t>
            </a:r>
            <a:r>
              <a:rPr sz="2613" b="0" spc="52">
                <a:solidFill>
                  <a:srgbClr val="55617A"/>
                </a:solidFill>
                <a:latin typeface="Calibri"/>
              </a:rPr>
              <a:t> Purdue University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91" y="5457070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Problem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16393" y="5457070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Method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592795" y="5457070"/>
            <a:ext cx="16000333" cy="899667"/>
          </a:xfrm>
          <a:prstGeom prst="rect">
            <a:avLst/>
          </a:prstGeom>
          <a:noFill/>
        </p:spPr>
        <p:txBody>
          <a:bodyPr wrap="none" lIns="0" rIns="391160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Key Results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6559430"/>
            <a:ext cx="16000194" cy="923469"/>
          </a:xfrm>
          <a:prstGeom prst="rect">
            <a:avLst/>
          </a:prstGeom>
          <a:noFill/>
        </p:spPr>
        <p:txBody>
          <a:bodyPr wrap="none" lIns="365082" rIns="365082" tIns="62585" bIns="62585" anchor="t">
            <a:no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024" b="0" i="1">
                <a:solidFill>
                  <a:srgbClr val="1C1C1C"/>
                </a:solidFill>
                <a:latin typeface="Calibri"/>
              </a:rPr>
              <a:t>Reliable estimation along a moving optimization trajectory.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91" y="7362447"/>
            <a:ext cx="16000194" cy="34785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83" b="0">
                <a:solidFill>
                  <a:srgbClr val="1C1C1C"/>
                </a:solidFill>
                <a:latin typeface="Calibri"/>
              </a:rPr>
              <a:t>Stochastic optimization must track a </a:t>
            </a:r>
            <a:r>
              <a:rPr sz="3983" b="1">
                <a:solidFill>
                  <a:srgbClr val="111111"/>
                </a:solidFill>
                <a:latin typeface="Calibri"/>
              </a:rPr>
              <a:t>moving population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83" b="1">
                <a:solidFill>
                  <a:srgbClr val="111111"/>
                </a:solidFill>
                <a:latin typeface="Calibri"/>
              </a:rPr>
              <a:t>quantity</a:t>
            </a:r>
            <a:r>
              <a:rPr sz="3983" b="0">
                <a:solidFill>
                  <a:srgbClr val="1C1C1C"/>
                </a:solidFill>
                <a:latin typeface="Calibri"/>
              </a:rPr>
              <a:t> from noisy samples. Estimator-specific, expectation-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83" b="0">
                <a:solidFill>
                  <a:srgbClr val="1C1C1C"/>
                </a:solidFill>
                <a:latin typeface="Calibri"/>
              </a:rPr>
              <a:t>based analyses obscure what controls reliability—especially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83" b="0">
                <a:solidFill>
                  <a:srgbClr val="1C1C1C"/>
                </a:solidFill>
                <a:latin typeface="Calibri"/>
              </a:rPr>
              <a:t>when errors determine whether a constraint is feasible.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592795" y="10105707"/>
            <a:ext cx="16000333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04" b="0">
                <a:solidFill>
                  <a:srgbClr val="1C1C1C"/>
                </a:solidFill>
                <a:latin typeface="Calibri"/>
              </a:rPr>
              <a:t>Dominant oracle rates from Table 3; logarithmic factors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04" b="0">
                <a:solidFill>
                  <a:srgbClr val="1C1C1C"/>
                </a:solidFill>
                <a:latin typeface="Calibri"/>
              </a:rPr>
              <a:t>suppressed. Each family uses its stated regularity assumptions.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91" y="11495325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Motivation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592795" y="11878845"/>
            <a:ext cx="16000333" cy="1895181"/>
          </a:xfrm>
          <a:prstGeom prst="rect">
            <a:avLst/>
          </a:prstGeom>
          <a:noFill/>
        </p:spPr>
        <p:txBody>
          <a:bodyPr wrap="none" lIns="339005" rIns="339005" tIns="146033" bIns="146033" anchor="t">
            <a:no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Calibri"/>
              </a:rPr>
              <a:t>First variance-reduced improvement for expectation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Calibri"/>
              </a:rPr>
              <a:t>constraints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592795" y="13526829"/>
            <a:ext cx="16000333" cy="1803170"/>
          </a:xfrm>
          <a:prstGeom prst="rect">
            <a:avLst/>
          </a:prstGeom>
          <a:noFill/>
        </p:spPr>
        <p:txBody>
          <a:bodyPr wrap="none" lIns="0" rIns="0" tIns="215920" bIns="0" anchor="t">
            <a:noAutofit/>
          </a:bodyPr>
          <a:lstStyle/>
          <a:p>
            <a:pPr algn="l">
              <a:lnSpc>
                <a:spcPts val="529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latin typeface="Calibri"/>
              </a:rPr>
              <a:t>SO WHAT → </a:t>
            </a:r>
            <a:r>
              <a:rPr i="1" sz="3600">
                <a:latin typeface="Calibri"/>
              </a:rPr>
              <a:t>The same estimator analysis yields high-probability</a:t>
            </a:r>
          </a:p>
          <a:p>
            <a:pPr algn="l">
              <a:lnSpc>
                <a:spcPts val="5290"/>
              </a:lnSpc>
              <a:spcBef>
                <a:spcPts val="0"/>
              </a:spcBef>
              <a:spcAft>
                <a:spcPts val="0"/>
              </a:spcAft>
            </a:pPr>
            <a:r>
              <a:rPr i="1" sz="3600">
                <a:latin typeface="Calibri"/>
              </a:rPr>
              <a:t>guarantees in both applications.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849341" y="14198441"/>
            <a:ext cx="2564162" cy="357822"/>
          </a:xfrm>
          <a:prstGeom prst="rect">
            <a:avLst/>
          </a:prstGeom>
          <a:noFill/>
        </p:spPr>
        <p:txBody>
          <a:bodyPr wrap="none" lIns="394289" rIns="394289" tIns="67592" bIns="67592" anchor="t">
            <a:no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564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</a:t>
            </a:r>
            <a:r>
              <a:rPr sz="564" b="0" i="1">
                <a:solidFill>
                  <a:srgbClr val="555555"/>
                </a:solidFill>
                <a:latin typeface="Cambria Math"/>
              </a:rPr>
              <a:t>; </a:t>
            </a:r>
            <a:r>
              <a:rPr sz="564" b="0" i="1">
                <a:solidFill>
                  <a:srgbClr val="555555"/>
                </a:solidFill>
                <a:latin typeface="Cambria Math"/>
              </a:rPr>
              <a:t>                                </a:t>
            </a:r>
            <a:r>
              <a:rPr sz="564" b="0" i="1">
                <a:solidFill>
                  <a:srgbClr val="555555"/>
                </a:solidFill>
                <a:latin typeface="Cambria Math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816393" y="15188565"/>
            <a:ext cx="16000194" cy="744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4435" b="1">
                <a:solidFill>
                  <a:srgbClr val="1D3A87"/>
                </a:solidFill>
                <a:latin typeface="Calibri"/>
              </a:rPr>
              <a:t>Unified error bound · Theorem 4.2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592795" y="16442749"/>
            <a:ext cx="16000333" cy="89966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Headline Numbers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9991" y="19178785"/>
            <a:ext cx="16000194" cy="744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4435" b="1">
                <a:solidFill>
                  <a:srgbClr val="1D3A87"/>
                </a:solidFill>
                <a:latin typeface="Calibri"/>
              </a:rPr>
              <a:t>Three families, one design space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637245" y="21521856"/>
            <a:ext cx="15955883" cy="899667"/>
          </a:xfrm>
          <a:prstGeom prst="rect">
            <a:avLst/>
          </a:prstGeom>
          <a:noFill/>
        </p:spPr>
        <p:txBody>
          <a:bodyPr wrap="none" lIns="0" rIns="3911600" tIns="0" bIns="0" anchor="t">
            <a:no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Calibri"/>
              </a:rPr>
              <a:t>Takeaway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637245" y="22624216"/>
            <a:ext cx="15955883" cy="1919142"/>
          </a:xfrm>
          <a:prstGeom prst="rect">
            <a:avLst/>
          </a:prstGeom>
          <a:noFill/>
        </p:spPr>
        <p:txBody>
          <a:bodyPr wrap="none" lIns="365082" rIns="365082" tIns="156464" bIns="156464" anchor="t">
            <a:no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041" b="1">
                <a:solidFill>
                  <a:srgbClr val="FFFFFF"/>
                </a:solidFill>
                <a:latin typeface="Calibri"/>
              </a:rPr>
              <a:t>Separate memory, resets, and correction to analyze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041" b="1">
                <a:solidFill>
                  <a:srgbClr val="FFFFFF"/>
                </a:solidFill>
                <a:latin typeface="Calibri"/>
              </a:rPr>
              <a:t>estimator reliability once.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637245" y="24293036"/>
            <a:ext cx="15955883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Stronger guarantees for gradient tracking and expectation-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constraint estimation.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91" y="24950340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111111"/>
                </a:solidFill>
                <a:latin typeface="Calibri"/>
              </a:rPr>
              <a:t>Momentum</a:t>
            </a:r>
            <a:r>
              <a:rPr sz="3885" b="0">
                <a:solidFill>
                  <a:srgbClr val="1C1C1C"/>
                </a:solidFill>
                <a:latin typeface="Calibri"/>
              </a:rPr>
              <a:t> smooths direct noise but incurs drift bias.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111111"/>
                </a:solidFill>
                <a:latin typeface="Calibri"/>
              </a:rPr>
              <a:t>Differential updates</a:t>
            </a:r>
            <a:r>
              <a:rPr sz="3885" b="0">
                <a:solidFill>
                  <a:srgbClr val="1C1C1C"/>
                </a:solidFill>
                <a:latin typeface="Calibri"/>
              </a:rPr>
              <a:t> remove this bias using stochastic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885" b="0">
                <a:solidFill>
                  <a:srgbClr val="1C1C1C"/>
                </a:solidFill>
                <a:latin typeface="Calibri"/>
              </a:rPr>
              <a:t>differences. </a:t>
            </a:r>
            <a:r>
              <a:rPr sz="3885" b="1">
                <a:solidFill>
                  <a:srgbClr val="111111"/>
                </a:solidFill>
                <a:latin typeface="Calibri"/>
              </a:rPr>
              <a:t>Curvature correction</a:t>
            </a:r>
            <a:r>
              <a:rPr sz="3885" b="0">
                <a:solidFill>
                  <a:srgbClr val="1C1C1C"/>
                </a:solidFill>
                <a:latin typeface="Calibri"/>
              </a:rPr>
              <a:t> leaves a quadratic residual.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637245" y="26066174"/>
            <a:ext cx="15955883" cy="4348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95" b="0">
                <a:solidFill>
                  <a:srgbClr val="1C1C1C"/>
                </a:solidFill>
                <a:latin typeface="Calibri"/>
              </a:rPr>
              <a:t>Reliability requires </a:t>
            </a:r>
            <a:r>
              <a:rPr sz="3995" b="1">
                <a:solidFill>
                  <a:srgbClr val="111111"/>
                </a:solidFill>
                <a:latin typeface="Calibri"/>
              </a:rPr>
              <a:t>predictable parameters</a:t>
            </a:r>
            <a:r>
              <a:rPr sz="3995" b="0">
                <a:solidFill>
                  <a:srgbClr val="1C1C1C"/>
                </a:solidFill>
                <a:latin typeface="Calibri"/>
              </a:rPr>
              <a:t>, </a:t>
            </a:r>
            <a:r>
              <a:rPr sz="3995" b="1">
                <a:solidFill>
                  <a:srgbClr val="111111"/>
                </a:solidFill>
                <a:latin typeface="Calibri"/>
              </a:rPr>
              <a:t>sub-Gaussian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95" b="1">
                <a:solidFill>
                  <a:srgbClr val="111111"/>
                </a:solidFill>
                <a:latin typeface="Calibri"/>
              </a:rPr>
              <a:t>noise</a:t>
            </a:r>
            <a:r>
              <a:rPr sz="3995" b="0">
                <a:solidFill>
                  <a:srgbClr val="1C1C1C"/>
                </a:solidFill>
                <a:latin typeface="Calibri"/>
              </a:rPr>
              <a:t>, and family-specific regularity. In the constrained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95" b="0">
                <a:solidFill>
                  <a:srgbClr val="1C1C1C"/>
                </a:solidFill>
                <a:latin typeface="Calibri"/>
              </a:rPr>
              <a:t>application, the objective and constraint are convex,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95" b="0">
                <a:solidFill>
                  <a:srgbClr val="1C1C1C"/>
                </a:solidFill>
                <a:latin typeface="Calibri"/>
              </a:rPr>
              <a:t>domain is bounded, and stochastic subgradients are bounded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995" b="0">
                <a:solidFill>
                  <a:srgbClr val="1C1C1C"/>
                </a:solidFill>
                <a:latin typeface="Calibri"/>
              </a:rPr>
              <a:t>and unbiased.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91" y="27479684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The same framework covers gradients and scalar constraint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values, in Euclidean and smooth non-Euclidean geometries.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778535" y="8561070"/>
            <a:ext cx="15038052" cy="186035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3887" b="0">
                <a:solidFill>
                  <a:srgbClr val="1C1C1C"/>
                </a:solidFill>
                <a:latin typeface="Calibri"/>
              </a:rPr>
              <a:t>Reset with a fresh batch, or combine the current oracle with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3887" b="0">
                <a:solidFill>
                  <a:srgbClr val="1C1C1C"/>
                </a:solidFill>
                <a:latin typeface="Calibri"/>
              </a:rPr>
              <a:t>corrected memory.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778535" y="10491589"/>
            <a:ext cx="15038052" cy="1020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035" b="0">
                <a:solidFill>
                  <a:srgbClr val="1C1C1C"/>
                </a:solidFill>
                <a:latin typeface="Calibri"/>
              </a:rPr>
              <a:t>Separate conditional bias from centered innovation noise.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9972" y="12597685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Momentum, STORM, PAGE, and SPIDER reuse historical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Calibri"/>
              </a:rPr>
              <a:t>information differently.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72" y="14292619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Calibri"/>
              </a:rPr>
              <a:t>Compare </a:t>
            </a:r>
            <a:r>
              <a:rPr sz="4106" b="1">
                <a:solidFill>
                  <a:srgbClr val="111111"/>
                </a:solidFill>
                <a:latin typeface="Calibri"/>
              </a:rPr>
              <a:t>memory retention</a:t>
            </a:r>
            <a:r>
              <a:rPr sz="4106" b="0">
                <a:solidFill>
                  <a:srgbClr val="1C1C1C"/>
                </a:solidFill>
                <a:latin typeface="Calibri"/>
              </a:rPr>
              <a:t>, </a:t>
            </a:r>
            <a:r>
              <a:rPr sz="4106" b="1">
                <a:solidFill>
                  <a:srgbClr val="111111"/>
                </a:solidFill>
                <a:latin typeface="Calibri"/>
              </a:rPr>
              <a:t>estimate refreshes</a:t>
            </a:r>
            <a:r>
              <a:rPr sz="4106" b="0">
                <a:solidFill>
                  <a:srgbClr val="1C1C1C"/>
                </a:solidFill>
                <a:latin typeface="Calibri"/>
              </a:rPr>
              <a:t>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Calibri"/>
              </a:rPr>
              <a:t>movement corrections.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36748" y="15987553"/>
            <a:ext cx="803357" cy="869636"/>
          </a:xfrm>
          <a:prstGeom prst="rect">
            <a:avLst/>
          </a:prstGeom>
          <a:noFill/>
        </p:spPr>
        <p:txBody>
          <a:bodyPr wrap="none" lIns="26077" rIns="26077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595" b="1">
                <a:solidFill>
                  <a:srgbClr val="1D3A87"/>
                </a:solidFill>
                <a:latin typeface="Calibri"/>
              </a:rPr>
              <a:t>vs.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816375" y="23948965"/>
            <a:ext cx="16000212" cy="8696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Initialization:</a:t>
            </a:r>
            <a:r>
              <a:rPr sz="4106" b="0">
                <a:solidFill>
                  <a:srgbClr val="1C1C1C"/>
                </a:solidFill>
                <a:latin typeface="Calibri"/>
              </a:rPr>
              <a:t> batch error decays with retained memory.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816375" y="24887693"/>
            <a:ext cx="16000212" cy="8696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Bias:</a:t>
            </a:r>
            <a:r>
              <a:rPr sz="4106" b="0">
                <a:solidFill>
                  <a:srgbClr val="1C1C1C"/>
                </a:solidFill>
                <a:latin typeface="Calibri"/>
              </a:rPr>
              <a:t> corrections control accumulated predictable drift.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816375" y="25826422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Fluctuations:</a:t>
            </a:r>
            <a:r>
              <a:rPr sz="4106" b="0">
                <a:solidFill>
                  <a:srgbClr val="1C1C1C"/>
                </a:solidFill>
                <a:latin typeface="Calibri"/>
              </a:rPr>
              <a:t> a vector-valued Freedman inequality controls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Calibri"/>
              </a:rPr>
              <a:t>noise over random reset intervals.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83493" y="16204942"/>
            <a:ext cx="6982842" cy="6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Calibri"/>
              </a:rPr>
              <a:t>SEPARATE ANALYSES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90504" y="16204942"/>
            <a:ext cx="6982841" cy="6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Calibri"/>
              </a:rPr>
              <a:t>UNIFIED ANALYSIS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83493" y="16850300"/>
            <a:ext cx="6982842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040" b="0">
                <a:solidFill>
                  <a:srgbClr val="1C1C1C"/>
                </a:solidFill>
                <a:latin typeface="Calibri"/>
              </a:rPr>
              <a:t>Estimator-specific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040" b="0">
                <a:solidFill>
                  <a:srgbClr val="1C1C1C"/>
                </a:solidFill>
                <a:latin typeface="Calibri"/>
              </a:rPr>
              <a:t>guarantees in expectation.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90504" y="16850300"/>
            <a:ext cx="6982841" cy="1739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Common structure, high-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probability control.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838659" y="17767359"/>
            <a:ext cx="11476349" cy="18538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Calibri"/>
              </a:rPr>
              <a:t>ε</a:t>
            </a:r>
            <a:r>
              <a:rPr sz="9333" b="1" spc="-224" baseline="30000">
                <a:solidFill>
                  <a:srgbClr val="1D3A87"/>
                </a:solidFill>
                <a:latin typeface="Calibri"/>
              </a:rPr>
              <a:t>−3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838659" y="19402980"/>
            <a:ext cx="11476349" cy="5996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Calibri"/>
              </a:rPr>
              <a:t>Constrained oracle complexity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838659" y="19924434"/>
            <a:ext cx="11476349" cy="4702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Calibri"/>
              </a:rPr>
              <a:t>Improves the prior ε⁻⁴ rate; logarithmic factors suppressed.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592795" y="6559430"/>
            <a:ext cx="4317527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FAMILY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784569" y="6559430"/>
            <a:ext cx="4628425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MIRROR DESCENT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278186" y="6559430"/>
            <a:ext cx="7094868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EXPECTATION CONSTRAINTS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4592795" y="7265908"/>
            <a:ext cx="4317527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Standard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784569" y="7265908"/>
            <a:ext cx="462842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278186" y="7265908"/>
            <a:ext cx="70948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592795" y="8211026"/>
            <a:ext cx="4317527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Differential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784569" y="8211026"/>
            <a:ext cx="462842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278186" y="8211026"/>
            <a:ext cx="70948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592795" y="9156144"/>
            <a:ext cx="4317527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Second-order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784569" y="9156144"/>
            <a:ext cx="462842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278186" y="9156144"/>
            <a:ext cx="709486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        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032683" y="17767359"/>
            <a:ext cx="325778" cy="6269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3652" b="1" spc="-42">
                <a:solidFill>
                  <a:srgbClr val="AE2622"/>
                </a:solidFill>
                <a:latin typeface="Calibri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31496" y="17909599"/>
            <a:ext cx="1336162" cy="4907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664" b="0">
                <a:solidFill>
                  <a:srgbClr val="555555"/>
                </a:solidFill>
                <a:latin typeface="Calibri"/>
              </a:rPr>
              <a:t>families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032683" y="18709560"/>
            <a:ext cx="325778" cy="6269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3652" b="1" spc="-42">
                <a:solidFill>
                  <a:srgbClr val="AE2622"/>
                </a:solidFill>
                <a:latin typeface="Calibr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31496" y="18851800"/>
            <a:ext cx="1357766" cy="4907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628" b="0">
                <a:solidFill>
                  <a:srgbClr val="555555"/>
                </a:solidFill>
                <a:latin typeface="Calibri"/>
              </a:rPr>
              <a:t>regimes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032683" y="19651900"/>
            <a:ext cx="325778" cy="6269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3652" b="1" spc="-42">
                <a:solidFill>
                  <a:srgbClr val="AE2622"/>
                </a:solidFill>
                <a:latin typeface="Calibri"/>
              </a:rPr>
              <a:t>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531496" y="19794140"/>
            <a:ext cx="2460719" cy="4907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681" b="0">
                <a:solidFill>
                  <a:srgbClr val="555555"/>
                </a:solidFill>
                <a:latin typeface="Calibri"/>
              </a:rPr>
              <a:t>configurations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39991" y="19967217"/>
            <a:ext cx="3720052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CORRECTION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51692" y="19967217"/>
            <a:ext cx="3997185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RECURSIVE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32455" y="19967217"/>
            <a:ext cx="8323440" cy="812449"/>
          </a:xfrm>
          <a:prstGeom prst="rect">
            <a:avLst/>
          </a:prstGeom>
          <a:noFill/>
        </p:spPr>
        <p:txBody>
          <a:bodyPr wrap="none" lIns="185800" rIns="185800" tIns="81752" bIns="81752" anchor="t">
            <a:no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RESET-BASED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39991" y="20673695"/>
            <a:ext cx="3720052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Standard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1692" y="20673695"/>
            <a:ext cx="3997185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Momentum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32455" y="20673695"/>
            <a:ext cx="8323440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Probabilistic / periodic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momentum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9991" y="22337236"/>
            <a:ext cx="3720052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Differential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51692" y="22337236"/>
            <a:ext cx="3997185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STORM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532455" y="22337236"/>
            <a:ext cx="8323440" cy="1086885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PAGE / SPIDER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9991" y="23282354"/>
            <a:ext cx="3720052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Second-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order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51692" y="23282354"/>
            <a:ext cx="3997185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SO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Momentum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32455" y="23282354"/>
            <a:ext cx="8323440" cy="1913072"/>
          </a:xfrm>
          <a:prstGeom prst="rect">
            <a:avLst/>
          </a:prstGeom>
          <a:noFill/>
        </p:spPr>
        <p:txBody>
          <a:bodyPr wrap="none" lIns="247734" rIns="247734" tIns="109002" bIns="109002" anchor="t">
            <a:no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SO PAGE / SO SPIDER</a:t>
            </a:r>
          </a:p>
        </p:txBody>
      </p:sp>
      <p:pic>
        <p:nvPicPr>
          <p:cNvPr id="147" name="Picture 146" descr="e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5443" y="6612770"/>
            <a:ext cx="579239" cy="755650"/>
          </a:xfrm>
          <a:prstGeom prst="rect">
            <a:avLst/>
          </a:prstGeom>
        </p:spPr>
      </p:pic>
      <p:pic>
        <p:nvPicPr>
          <p:cNvPr id="148" name="Picture 147" descr="eq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8146" y="6612770"/>
            <a:ext cx="538817" cy="755650"/>
          </a:xfrm>
          <a:prstGeom prst="rect">
            <a:avLst/>
          </a:prstGeom>
        </p:spPr>
      </p:pic>
      <p:pic>
        <p:nvPicPr>
          <p:cNvPr id="149" name="Picture 148" descr="eq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24775" y="7500242"/>
            <a:ext cx="590907" cy="755650"/>
          </a:xfrm>
          <a:prstGeom prst="rect">
            <a:avLst/>
          </a:prstGeom>
        </p:spPr>
      </p:pic>
      <p:pic>
        <p:nvPicPr>
          <p:cNvPr id="150" name="Picture 149" descr="eq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9499" y="11951771"/>
            <a:ext cx="14767262" cy="816630"/>
          </a:xfrm>
          <a:prstGeom prst="rect">
            <a:avLst/>
          </a:prstGeom>
        </p:spPr>
      </p:pic>
      <p:pic>
        <p:nvPicPr>
          <p:cNvPr id="151" name="Picture 150" descr="eq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9499" y="13052881"/>
            <a:ext cx="14767262" cy="816630"/>
          </a:xfrm>
          <a:prstGeom prst="rect">
            <a:avLst/>
          </a:prstGeom>
        </p:spPr>
      </p:pic>
      <p:pic>
        <p:nvPicPr>
          <p:cNvPr id="152" name="Picture 151" descr="eq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7302" y="14198441"/>
            <a:ext cx="2982039" cy="311150"/>
          </a:xfrm>
          <a:prstGeom prst="rect">
            <a:avLst/>
          </a:prstGeom>
        </p:spPr>
      </p:pic>
      <p:pic>
        <p:nvPicPr>
          <p:cNvPr id="153" name="Picture 152" descr="eq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13529" y="14198441"/>
            <a:ext cx="2254865" cy="311150"/>
          </a:xfrm>
          <a:prstGeom prst="rect">
            <a:avLst/>
          </a:prstGeom>
        </p:spPr>
      </p:pic>
      <p:pic>
        <p:nvPicPr>
          <p:cNvPr id="154" name="Picture 153" descr="eq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31646" y="16204525"/>
            <a:ext cx="4159687" cy="755650"/>
          </a:xfrm>
          <a:prstGeom prst="rect">
            <a:avLst/>
          </a:prstGeom>
        </p:spPr>
      </p:pic>
      <p:pic>
        <p:nvPicPr>
          <p:cNvPr id="155" name="Picture 154" descr="eq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16393" y="16969204"/>
            <a:ext cx="5274270" cy="755650"/>
          </a:xfrm>
          <a:prstGeom prst="rect">
            <a:avLst/>
          </a:prstGeom>
        </p:spPr>
      </p:pic>
      <p:pic>
        <p:nvPicPr>
          <p:cNvPr id="156" name="Picture 155" descr="eq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209234" y="16969204"/>
            <a:ext cx="703004" cy="755650"/>
          </a:xfrm>
          <a:prstGeom prst="rect">
            <a:avLst/>
          </a:prstGeom>
        </p:spPr>
      </p:pic>
      <p:pic>
        <p:nvPicPr>
          <p:cNvPr id="157" name="Picture 156" descr="eq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60876" y="17733883"/>
            <a:ext cx="742176" cy="755650"/>
          </a:xfrm>
          <a:prstGeom prst="rect">
            <a:avLst/>
          </a:prstGeom>
        </p:spPr>
      </p:pic>
      <p:pic>
        <p:nvPicPr>
          <p:cNvPr id="158" name="Picture 157" descr="eq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31646" y="19019738"/>
            <a:ext cx="7514967" cy="755650"/>
          </a:xfrm>
          <a:prstGeom prst="rect">
            <a:avLst/>
          </a:prstGeom>
        </p:spPr>
      </p:pic>
      <p:pic>
        <p:nvPicPr>
          <p:cNvPr id="159" name="Picture 158" descr="eq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16393" y="20317122"/>
            <a:ext cx="15573474" cy="1344613"/>
          </a:xfrm>
          <a:prstGeom prst="rect">
            <a:avLst/>
          </a:prstGeom>
        </p:spPr>
      </p:pic>
      <p:pic>
        <p:nvPicPr>
          <p:cNvPr id="160" name="Picture 159" descr="eq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16393" y="21946215"/>
            <a:ext cx="15573474" cy="1647150"/>
          </a:xfrm>
          <a:prstGeom prst="rect">
            <a:avLst/>
          </a:prstGeom>
        </p:spPr>
      </p:pic>
      <p:pic>
        <p:nvPicPr>
          <p:cNvPr id="161" name="Picture 160" descr="eq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833048" y="27592476"/>
            <a:ext cx="2375297" cy="604520"/>
          </a:xfrm>
          <a:prstGeom prst="rect">
            <a:avLst/>
          </a:prstGeom>
        </p:spPr>
      </p:pic>
      <p:pic>
        <p:nvPicPr>
          <p:cNvPr id="162" name="Picture 161" descr="eq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417815" y="27592476"/>
            <a:ext cx="3551416" cy="604520"/>
          </a:xfrm>
          <a:prstGeom prst="rect">
            <a:avLst/>
          </a:prstGeom>
        </p:spPr>
      </p:pic>
      <p:pic>
        <p:nvPicPr>
          <p:cNvPr id="163" name="Picture 162" descr="eq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178702" y="27592476"/>
            <a:ext cx="3237071" cy="604520"/>
          </a:xfrm>
          <a:prstGeom prst="rect">
            <a:avLst/>
          </a:prstGeom>
        </p:spPr>
      </p:pic>
      <p:pic>
        <p:nvPicPr>
          <p:cNvPr id="164" name="Picture 163" descr="eq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538525" y="28292702"/>
            <a:ext cx="1110277" cy="604520"/>
          </a:xfrm>
          <a:prstGeom prst="rect">
            <a:avLst/>
          </a:prstGeom>
        </p:spPr>
      </p:pic>
      <p:pic>
        <p:nvPicPr>
          <p:cNvPr id="165" name="Picture 164" descr="eq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909099" y="28292702"/>
            <a:ext cx="4084677" cy="604520"/>
          </a:xfrm>
          <a:prstGeom prst="rect">
            <a:avLst/>
          </a:prstGeom>
        </p:spPr>
      </p:pic>
      <p:pic>
        <p:nvPicPr>
          <p:cNvPr id="166" name="Picture 165" descr="eq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032239" y="7370365"/>
            <a:ext cx="884277" cy="720090"/>
          </a:xfrm>
          <a:prstGeom prst="rect">
            <a:avLst/>
          </a:prstGeom>
        </p:spPr>
      </p:pic>
      <p:pic>
        <p:nvPicPr>
          <p:cNvPr id="167" name="Picture 166" descr="eq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525856" y="7370365"/>
            <a:ext cx="884277" cy="720090"/>
          </a:xfrm>
          <a:prstGeom prst="rect">
            <a:avLst/>
          </a:prstGeom>
        </p:spPr>
      </p:pic>
      <p:pic>
        <p:nvPicPr>
          <p:cNvPr id="168" name="Picture 167" descr="eq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032239" y="8315483"/>
            <a:ext cx="884277" cy="720090"/>
          </a:xfrm>
          <a:prstGeom prst="rect">
            <a:avLst/>
          </a:prstGeom>
        </p:spPr>
      </p:pic>
      <p:pic>
        <p:nvPicPr>
          <p:cNvPr id="169" name="Picture 168" descr="eq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525856" y="8315483"/>
            <a:ext cx="884277" cy="720090"/>
          </a:xfrm>
          <a:prstGeom prst="rect">
            <a:avLst/>
          </a:prstGeom>
        </p:spPr>
      </p:pic>
      <p:pic>
        <p:nvPicPr>
          <p:cNvPr id="170" name="Picture 169" descr="eq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032239" y="9260601"/>
            <a:ext cx="884277" cy="720090"/>
          </a:xfrm>
          <a:prstGeom prst="rect">
            <a:avLst/>
          </a:prstGeom>
        </p:spPr>
      </p:pic>
      <p:pic>
        <p:nvPicPr>
          <p:cNvPr id="171" name="Picture 170" descr="eq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25856" y="9260601"/>
            <a:ext cx="884277" cy="72009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8778458" y="6696218"/>
            <a:ext cx="7023655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7" b="0" i="0">
                <a:solidFill>
                  <a:srgbClr val="1C1C1C"/>
                </a:solidFill>
                <a:latin typeface="Calibri"/>
              </a:rPr>
              <a:t>Choose predictable memory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6354682" y="6696218"/>
            <a:ext cx="4400133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64" b="0" i="0">
                <a:solidFill>
                  <a:srgbClr val="1C1C1C"/>
                </a:solidFill>
                <a:latin typeface="Calibri"/>
              </a:rPr>
              <a:t>, reset probability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1266963" y="6696218"/>
            <a:ext cx="1223486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0" b="0" i="0">
                <a:solidFill>
                  <a:srgbClr val="1C1C1C"/>
                </a:solidFill>
                <a:latin typeface="Calibri"/>
              </a:rPr>
              <a:t>, and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816393" y="7574800"/>
            <a:ext cx="2635051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41" b="0" i="0">
                <a:solidFill>
                  <a:srgbClr val="1C1C1C"/>
                </a:solidFill>
                <a:latin typeface="Calibri"/>
              </a:rPr>
              <a:t>correction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1015682" y="7574800"/>
            <a:ext cx="171688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9" b="0" i="0">
                <a:solidFill>
                  <a:srgbClr val="1C1C1C"/>
                </a:solidFill>
                <a:latin typeface="Calibri"/>
              </a:rPr>
              <a:t>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7816393" y="16261302"/>
            <a:ext cx="941923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29" b="0" i="0">
                <a:solidFill>
                  <a:srgbClr val="1C1C1C"/>
                </a:solidFill>
                <a:latin typeface="Calibri"/>
              </a:rPr>
              <a:t>For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2891333" y="16261302"/>
            <a:ext cx="5696962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24" b="0" i="0">
                <a:solidFill>
                  <a:srgbClr val="1C1C1C"/>
                </a:solidFill>
                <a:latin typeface="Calibri"/>
              </a:rPr>
              <a:t>, non-reset steps satisfy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3090663" y="17025981"/>
            <a:ext cx="4145240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4" b="0" i="0">
                <a:solidFill>
                  <a:srgbClr val="1C1C1C"/>
                </a:solidFill>
                <a:latin typeface="Calibri"/>
              </a:rPr>
              <a:t>. Use bias bound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7912238" y="17025981"/>
            <a:ext cx="3342084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6" b="0" i="0">
                <a:solidFill>
                  <a:srgbClr val="1C1C1C"/>
                </a:solidFill>
                <a:latin typeface="Calibri"/>
              </a:rPr>
              <a:t> and centered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7816393" y="17790660"/>
            <a:ext cx="3671153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9" b="0" i="0">
                <a:solidFill>
                  <a:srgbClr val="1C1C1C"/>
                </a:solidFill>
                <a:latin typeface="Calibri"/>
              </a:rPr>
              <a:t>variance proxy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2203052" y="17790660"/>
            <a:ext cx="171688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9" b="0" i="0">
                <a:solidFill>
                  <a:srgbClr val="1C1C1C"/>
                </a:solidFill>
                <a:latin typeface="Calibri"/>
              </a:rPr>
              <a:t>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7816393" y="19076515"/>
            <a:ext cx="941923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29" b="0" i="0">
                <a:solidFill>
                  <a:srgbClr val="1C1C1C"/>
                </a:solidFill>
                <a:latin typeface="Calibri"/>
              </a:rPr>
              <a:t>For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6246613" y="19076515"/>
            <a:ext cx="171688" cy="755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86" b="0" i="0">
                <a:solidFill>
                  <a:srgbClr val="1C1C1C"/>
                </a:solidFill>
                <a:latin typeface="Calibri"/>
              </a:rPr>
              <a:t>: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7816393" y="27632564"/>
            <a:ext cx="1043324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2" b="0" i="0">
                <a:solidFill>
                  <a:srgbClr val="1C1C1C"/>
                </a:solidFill>
                <a:latin typeface="Calibri"/>
              </a:rPr>
              <a:t>Here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1208345" y="27632564"/>
            <a:ext cx="236140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0" b="0" i="0">
                <a:solidFill>
                  <a:srgbClr val="1C1C1C"/>
                </a:solidFill>
                <a:latin typeface="Calibri"/>
              </a:rPr>
              <a:t>,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4969231" y="27632564"/>
            <a:ext cx="236140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0" b="0" i="0">
                <a:solidFill>
                  <a:srgbClr val="1C1C1C"/>
                </a:solidFill>
                <a:latin typeface="Calibri"/>
              </a:rPr>
              <a:t>,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8415773" y="27632564"/>
            <a:ext cx="4465419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61" b="0" i="0">
                <a:solidFill>
                  <a:srgbClr val="1C1C1C"/>
                </a:solidFill>
                <a:latin typeface="Calibri"/>
              </a:rPr>
              <a:t>. The bound holds with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7816393" y="28332790"/>
            <a:ext cx="3748801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13" b="0" i="0">
                <a:solidFill>
                  <a:srgbClr val="1C1C1C"/>
                </a:solidFill>
                <a:latin typeface="Calibri"/>
              </a:rPr>
              <a:t>probability at least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2648802" y="28332790"/>
            <a:ext cx="1286966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0" b="0" i="0">
                <a:solidFill>
                  <a:srgbClr val="1C1C1C"/>
                </a:solidFill>
                <a:latin typeface="Calibri"/>
              </a:rPr>
              <a:t> when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993776" y="28332790"/>
            <a:ext cx="3310413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0" b="0" i="0">
                <a:solidFill>
                  <a:srgbClr val="1C1C1C"/>
                </a:solidFill>
                <a:latin typeface="Calibri"/>
              </a:rPr>
              <a:t> under the stated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7816393" y="29033017"/>
            <a:ext cx="8875414" cy="604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48" b="0" i="0">
                <a:solidFill>
                  <a:srgbClr val="1C1C1C"/>
                </a:solidFill>
                <a:latin typeface="Calibri"/>
              </a:rPr>
              <a:t>predictability and sub-Gaussian assumptions.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5849341" y="14216832"/>
            <a:ext cx="190857" cy="311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72" b="0" i="1">
                <a:solidFill>
                  <a:srgbClr val="555555"/>
                </a:solidFill>
                <a:latin typeface="Calibri"/>
              </a:rPr>
              <a:t>; 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268394" y="14216832"/>
            <a:ext cx="97095" cy="311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42" b="0" i="1">
                <a:solidFill>
                  <a:srgbClr val="5555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